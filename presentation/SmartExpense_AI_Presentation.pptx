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9971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6B6D4"/>
                </a:solidFill>
              </a:defRPr>
            </a:pPr>
            <a:r>
              <a:t>PROPOSED TINY AI PROTOTYPE CONCEPT</a:t>
            </a:r>
          </a:p>
          <a:p>
            <a:pPr>
              <a:spcAft>
                <a:spcPts val="800"/>
              </a:spcAft>
              <a:defRPr sz="4400" b="1">
                <a:solidFill>
                  <a:srgbClr val="F8FAFC"/>
                </a:solidFill>
              </a:defRPr>
            </a:pPr>
            <a:r>
              <a:t>SmartExpense AI</a:t>
            </a:r>
          </a:p>
          <a:p>
            <a:pPr>
              <a:spcAft>
                <a:spcPts val="600"/>
              </a:spcAft>
              <a:defRPr sz="2200">
                <a:solidFill>
                  <a:srgbClr val="10B981"/>
                </a:solidFill>
              </a:defRPr>
            </a:pPr>
            <a:r>
              <a:t>An Intelligent AI-Based Expense Classification System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Tiny AI Project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383280"/>
            <a:ext cx="9997135" cy="228600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spcAft>
                <a:spcPts val="1200"/>
              </a:spcAft>
              <a:defRPr sz="1300" b="1">
                <a:solidFill>
                  <a:srgbClr val="06B6D4"/>
                </a:solidFill>
              </a:defRPr>
            </a:pPr>
            <a:r>
              <a:t>PROJECT TEAM 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1. Mayank Mali</a:t>
            </a:r>
          </a:p>
          <a:p>
            <a:pPr>
              <a:defRPr sz="1400">
                <a:solidFill>
                  <a:srgbClr val="10B981"/>
                </a:solidFill>
              </a:defRPr>
            </a:pPr>
            <a:r>
              <a:t>Roll No. 85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39319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2. Priyanshi Pitroda</a:t>
            </a:r>
          </a:p>
          <a:p>
            <a:pPr>
              <a:defRPr sz="1400">
                <a:solidFill>
                  <a:srgbClr val="10B981"/>
                </a:solidFill>
              </a:defRPr>
            </a:pPr>
            <a:r>
              <a:t>Roll No. 106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39319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3. Deepak Kansara</a:t>
            </a:r>
          </a:p>
          <a:p>
            <a:pPr>
              <a:defRPr sz="1400">
                <a:solidFill>
                  <a:srgbClr val="10B981"/>
                </a:solidFill>
              </a:defRPr>
            </a:pPr>
            <a:r>
              <a:t>Roll No. 53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6B6D4"/>
                </a:solidFill>
              </a:defRPr>
            </a:pPr>
            <a:r>
              <a:t>SMARTEXPENSE AI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Introduction to SmartExpense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6B6D4"/>
                </a:solidFill>
              </a:defRPr>
            </a:pPr>
            <a:r>
              <a:t>What is SmartExpense AI?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</a:defRPr>
            </a:pPr>
            <a:r>
              <a:t>• SmartExpense AI is an intelligent lightweight AI-based system.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</a:defRPr>
            </a:pPr>
            <a:r>
              <a:t>• It automatically categorizes user expenses based on plain-text expense descriptions.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</a:defRPr>
            </a:pPr>
            <a:r>
              <a:t>• Eliminates manual category selection during daily expense logging.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</a:defRPr>
            </a:pPr>
            <a:r>
              <a:t>• Leverages Tiny AI principles to ensure fast, efficient, and resource-friendly classification.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10B981"/>
                </a:solidFill>
              </a:defRPr>
            </a:pPr>
            <a:r>
              <a:t>Automated Categorization Examples</a:t>
            </a:r>
          </a:p>
          <a:p>
            <a:pPr>
              <a:defRPr sz="1500" b="1">
                <a:solidFill>
                  <a:srgbClr val="94A3B8"/>
                </a:solidFill>
              </a:defRPr>
            </a:pPr>
            <a:r>
              <a:t>Input: "₹250 – Pizza"</a:t>
            </a:r>
          </a:p>
          <a:p>
            <a:pPr>
              <a:spcAft>
                <a:spcPts val="1200"/>
              </a:spcAft>
              <a:defRPr sz="1700" b="1">
                <a:solidFill>
                  <a:srgbClr val="06B6D4"/>
                </a:solidFill>
              </a:defRPr>
            </a:pPr>
            <a:r>
              <a:t>➜ AI Prediction: 🍔 Food</a:t>
            </a:r>
          </a:p>
          <a:p>
            <a:pPr>
              <a:defRPr sz="1500" b="1">
                <a:solidFill>
                  <a:srgbClr val="94A3B8"/>
                </a:solidFill>
              </a:defRPr>
            </a:pPr>
            <a:r>
              <a:t>Input: "₹800 – Uber"</a:t>
            </a:r>
          </a:p>
          <a:p>
            <a:pPr>
              <a:spcAft>
                <a:spcPts val="1200"/>
              </a:spcAft>
              <a:defRPr sz="1700" b="1">
                <a:solidFill>
                  <a:srgbClr val="06B6D4"/>
                </a:solidFill>
              </a:defRPr>
            </a:pPr>
            <a:r>
              <a:t>➜ AI Prediction: 🚗 Travel</a:t>
            </a:r>
          </a:p>
          <a:p>
            <a:pPr>
              <a:defRPr sz="1500" b="1">
                <a:solidFill>
                  <a:srgbClr val="94A3B8"/>
                </a:solidFill>
              </a:defRPr>
            </a:pPr>
            <a:r>
              <a:t>Input: "₹1,500 – Shoes"</a:t>
            </a:r>
          </a:p>
          <a:p>
            <a:pPr>
              <a:spcAft>
                <a:spcPts val="1200"/>
              </a:spcAft>
              <a:defRPr sz="1700" b="1">
                <a:solidFill>
                  <a:srgbClr val="06B6D4"/>
                </a:solidFill>
              </a:defRPr>
            </a:pPr>
            <a:r>
              <a:t>➜ AI Prediction: 🛍️ Shopping</a:t>
            </a:r>
          </a:p>
          <a:p>
            <a:pPr>
              <a:defRPr sz="1400" i="1">
                <a:solidFill>
                  <a:srgbClr val="94A3B8"/>
                </a:solidFill>
              </a:defRPr>
            </a:pPr>
            <a:r>
              <a:t>AI transforms raw transaction text into structured financial data instantly, saving time and increasing accuracy.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6B6D4"/>
                </a:solidFill>
              </a:defRPr>
            </a:pPr>
            <a:r>
              <a:t>SMARTEXPENSE AI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Problem Statement: Challenges in Manual Expense Tracking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⏳  Manual Categorization Effort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Users have to manually select tags and categories for every single purchase daily, leading to friction.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2544" y="1645920"/>
            <a:ext cx="34747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35424" y="18288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⏱️  Time-Consuming Process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Logging transactions individually consumes unnecessary time and leads to tracking fatigue.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3568" y="1645920"/>
            <a:ext cx="34747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56448" y="18288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💸  Small Expenses Ignored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Minor daily expenses (coffee, snacks, auto fare) are frequently skipped, resulting in inaccurate budgets.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42032" y="4023360"/>
            <a:ext cx="34747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420624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📊  Unclear Spending Patterns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Unorganized raw transaction data makes it difficult to analyze monthly cash flow effectively.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4023360"/>
            <a:ext cx="34747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420624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⚠️  Inconsistent Category Tags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Different tags used for similar items over time create confusing and scattered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6B6D4"/>
                </a:solidFill>
              </a:defRPr>
            </a:pPr>
            <a:r>
              <a:t>SMARTEXPENSE AI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01. Automate Expense Classification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Automatically identify and tag transaction categories directly from text descriptions.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2544" y="1645920"/>
            <a:ext cx="34747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81144" y="18745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02. Minimize User Effort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Significantly reduce manual data entry and tagging effort for everyday financial logs.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3568" y="1645920"/>
            <a:ext cx="34747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02168" y="18745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A855F7"/>
                </a:solidFill>
              </a:defRPr>
            </a:pPr>
            <a:r>
              <a:t>03. Organize Financial Data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Structure raw transaction logs into clean, categorized financial buckets for quick viewing.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34747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5196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04. Demonstrate Tiny AI Concept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Showcase how a compact ML model performs accurate classification with low computation.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4023360"/>
            <a:ext cx="34747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1144" y="425196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05. Simple &amp; Accessible UI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Provide a minimal, intuitive interface suitable for students and everyday users.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4023360"/>
            <a:ext cx="34747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425196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06. Financial Awareness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Help users effortlessly track spending habits and improve overall budgeting.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6B6D4"/>
                </a:solidFill>
              </a:defRPr>
            </a:pPr>
            <a:r>
              <a:t>SMARTEXPENSE AI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Proposed Solution: Intelligent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64592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463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400"/>
            </a:pPr>
            <a:r>
              <a:t>📝</a:t>
            </a:r>
          </a:p>
          <a:p>
            <a:pPr algn="ctr">
              <a:defRPr sz="1100" b="1">
                <a:solidFill>
                  <a:srgbClr val="06B6D4"/>
                </a:solidFill>
              </a:defRPr>
            </a:pPr>
            <a:r>
              <a:t>Step 1</a:t>
            </a:r>
          </a:p>
          <a:p>
            <a:pPr algn="ctr">
              <a:spcAft>
                <a:spcPts val="400"/>
              </a:spcAft>
              <a:defRPr sz="1300" b="1">
                <a:solidFill>
                  <a:srgbClr val="F8FAFC"/>
                </a:solidFill>
              </a:defRPr>
            </a:pPr>
            <a:r>
              <a:t>User Enters Expense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Plain text entry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42032" y="1828800"/>
            <a:ext cx="164592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33472" y="1965960"/>
            <a:ext cx="1463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400"/>
            </a:pPr>
            <a:r>
              <a:t>💬</a:t>
            </a:r>
          </a:p>
          <a:p>
            <a:pPr algn="ctr">
              <a:defRPr sz="1100" b="1">
                <a:solidFill>
                  <a:srgbClr val="06B6D4"/>
                </a:solidFill>
              </a:defRPr>
            </a:pPr>
            <a:r>
              <a:t>Step 2</a:t>
            </a:r>
          </a:p>
          <a:p>
            <a:pPr algn="ctr">
              <a:spcAft>
                <a:spcPts val="400"/>
              </a:spcAft>
              <a:defRPr sz="1300" b="1">
                <a:solidFill>
                  <a:srgbClr val="F8FAFC"/>
                </a:solidFill>
              </a:defRPr>
            </a:pPr>
            <a:r>
              <a:t>Expense Description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"₹300 - Dinner..."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828800"/>
            <a:ext cx="164592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43984" y="1965960"/>
            <a:ext cx="1463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400"/>
            </a:pPr>
            <a:r>
              <a:t>⚙️</a:t>
            </a:r>
          </a:p>
          <a:p>
            <a:pPr algn="ctr">
              <a:defRPr sz="1100" b="1">
                <a:solidFill>
                  <a:srgbClr val="06B6D4"/>
                </a:solidFill>
              </a:defRPr>
            </a:pPr>
            <a:r>
              <a:t>Step 3</a:t>
            </a:r>
          </a:p>
          <a:p>
            <a:pPr algn="ctr">
              <a:spcAft>
                <a:spcPts val="400"/>
              </a:spcAft>
              <a:defRPr sz="1300" b="1">
                <a:solidFill>
                  <a:srgbClr val="F8FAFC"/>
                </a:solidFill>
              </a:defRPr>
            </a:pPr>
            <a:r>
              <a:t>Text Preprocessing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Clean &amp; tokenize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5" y="1828800"/>
            <a:ext cx="164592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4495" y="1965960"/>
            <a:ext cx="1463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400"/>
            </a:pPr>
            <a:r>
              <a:t>🤖</a:t>
            </a:r>
          </a:p>
          <a:p>
            <a:pPr algn="ctr">
              <a:defRPr sz="1100" b="1">
                <a:solidFill>
                  <a:srgbClr val="06B6D4"/>
                </a:solidFill>
              </a:defRPr>
            </a:pPr>
            <a:r>
              <a:t>Step 4</a:t>
            </a:r>
          </a:p>
          <a:p>
            <a:pPr algn="ctr">
              <a:spcAft>
                <a:spcPts val="400"/>
              </a:spcAft>
              <a:defRPr sz="1300" b="1">
                <a:solidFill>
                  <a:srgbClr val="F8FAFC"/>
                </a:solidFill>
              </a:defRPr>
            </a:pPr>
            <a:r>
              <a:t>Tiny AI Model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Classify intent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73568" y="1828800"/>
            <a:ext cx="164592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5008" y="1965960"/>
            <a:ext cx="1463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400"/>
            </a:pPr>
            <a:r>
              <a:t>🏷️</a:t>
            </a:r>
          </a:p>
          <a:p>
            <a:pPr algn="ctr">
              <a:defRPr sz="1100" b="1">
                <a:solidFill>
                  <a:srgbClr val="06B6D4"/>
                </a:solidFill>
              </a:defRPr>
            </a:pPr>
            <a:r>
              <a:t>Step 5</a:t>
            </a:r>
          </a:p>
          <a:p>
            <a:pPr algn="ctr">
              <a:spcAft>
                <a:spcPts val="400"/>
              </a:spcAft>
              <a:defRPr sz="1300" b="1">
                <a:solidFill>
                  <a:srgbClr val="F8FAFC"/>
                </a:solidFill>
              </a:defRPr>
            </a:pPr>
            <a:r>
              <a:t>Predicted Category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Assign 'Food'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0" y="1828800"/>
            <a:ext cx="164592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0" y="1965960"/>
            <a:ext cx="1463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400"/>
            </a:pPr>
            <a:r>
              <a:t>📊</a:t>
            </a:r>
          </a:p>
          <a:p>
            <a:pPr algn="ctr">
              <a:defRPr sz="1100" b="1">
                <a:solidFill>
                  <a:srgbClr val="06B6D4"/>
                </a:solidFill>
              </a:defRPr>
            </a:pPr>
            <a:r>
              <a:t>Step 6</a:t>
            </a:r>
          </a:p>
          <a:p>
            <a:pPr algn="ctr">
              <a:spcAft>
                <a:spcPts val="400"/>
              </a:spcAft>
              <a:defRPr sz="1300" b="1">
                <a:solidFill>
                  <a:srgbClr val="F8FAFC"/>
                </a:solidFill>
              </a:defRPr>
            </a:pPr>
            <a:r>
              <a:t>Expense Dashboard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Update analytics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89120"/>
            <a:ext cx="10728655" cy="182880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572000"/>
            <a:ext cx="101800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PROPOSED WORKFLOW EXAMPLE IN ACTION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Input Description:  "₹300 – Dinner at restaurant"</a:t>
            </a:r>
          </a:p>
          <a:p>
            <a:pPr>
              <a:defRPr sz="1800" b="1">
                <a:solidFill>
                  <a:srgbClr val="06B6D4"/>
                </a:solidFill>
              </a:defRPr>
            </a:pPr>
            <a:r>
              <a:t>➜ Tiny AI Prediction:  Food (Category auto-assigned to budget tracker)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6B6D4"/>
                </a:solidFill>
              </a:defRPr>
            </a:pPr>
            <a:r>
              <a:t>SMARTEXPENSE AI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How the Tiny AI Engine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6B6D4"/>
                </a:solidFill>
              </a:defRPr>
            </a:pPr>
            <a:r>
              <a:t>1. Input Reception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System captures raw expense text provided by the user.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645920"/>
            <a:ext cx="52120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64224" y="178308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6B6D4"/>
                </a:solidFill>
              </a:defRPr>
            </a:pPr>
            <a:r>
              <a:t>2. Text Cleaning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Removes special symbols, converts to lowercase, &amp; normalizes words.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52120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6B6D4"/>
                </a:solidFill>
              </a:defRPr>
            </a:pPr>
            <a:r>
              <a:t>3. Feature Extraction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Converts processed text into numerical feature vectors.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3017520"/>
            <a:ext cx="52120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315468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6B6D4"/>
                </a:solidFill>
              </a:defRPr>
            </a:pPr>
            <a:r>
              <a:t>4. Tiny AI Inference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Lightweight ML classification model analyzes feature weights.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89120"/>
            <a:ext cx="52120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6B6D4"/>
                </a:solidFill>
              </a:defRPr>
            </a:pPr>
            <a:r>
              <a:t>5. Category Prediction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Model outputs the category with highest probability match.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4389120"/>
            <a:ext cx="52120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452628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6B6D4"/>
                </a:solidFill>
              </a:defRPr>
            </a:pPr>
            <a:r>
              <a:t>6. Dashboard Display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Category is automatically rendered on user's finance dashboard.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486400"/>
            <a:ext cx="10728655" cy="82296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57784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0E7FF"/>
                </a:solidFill>
              </a:defRPr>
            </a:pPr>
            <a:r>
              <a:t>💡 Tiny AI Advantage: Lightweight classification model allows instant predictions with low computational overhead, perfect for edge devices and lightweight web prototypes.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6B6D4"/>
                </a:solidFill>
              </a:defRPr>
            </a:pPr>
            <a:r>
              <a:t>SMARTEXPENSE AI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Supported Expense Categories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/>
            </a:pPr>
            <a:r>
              <a:t>🍔</a:t>
            </a:r>
          </a:p>
          <a:p>
            <a:pPr>
              <a:spcAft>
                <a:spcPts val="600"/>
              </a:spcAft>
              <a:defRPr sz="1600" b="1">
                <a:solidFill>
                  <a:srgbClr val="10B981"/>
                </a:solidFill>
              </a:defRPr>
            </a:pPr>
            <a:r>
              <a:t>Food &amp; Dining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Restaurants, groceries, snacks, coffee, food delivery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38144" y="1645920"/>
            <a:ext cx="25603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75304" y="178308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/>
            </a:pPr>
            <a:r>
              <a:t>🚗</a:t>
            </a:r>
          </a:p>
          <a:p>
            <a:pPr>
              <a:spcAft>
                <a:spcPts val="600"/>
              </a:spcAft>
              <a:defRPr sz="1600" b="1">
                <a:solidFill>
                  <a:srgbClr val="06B6D4"/>
                </a:solidFill>
              </a:defRPr>
            </a:pPr>
            <a:r>
              <a:t>Travel &amp; Transit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Uber, cabs, fuel, train, flight, parking tickets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4768" y="1645920"/>
            <a:ext cx="25603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78308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/>
            </a:pPr>
            <a:r>
              <a:t>🛍️</a:t>
            </a:r>
          </a:p>
          <a:p>
            <a:pPr>
              <a:spcAft>
                <a:spcPts val="600"/>
              </a:spcAft>
              <a:defRPr sz="1600" b="1">
                <a:solidFill>
                  <a:srgbClr val="A855F7"/>
                </a:solidFill>
              </a:defRPr>
            </a:pPr>
            <a:r>
              <a:t>Shopping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Clothing, electronics, online store orders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51392" y="1645920"/>
            <a:ext cx="25603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88552" y="178308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/>
            </a:pPr>
            <a:r>
              <a:t>📚</a:t>
            </a:r>
          </a:p>
          <a:p>
            <a:pPr>
              <a:spcAft>
                <a:spcPts val="600"/>
              </a:spcAft>
              <a:defRPr sz="1600" b="1">
                <a:solidFill>
                  <a:srgbClr val="F59E0B"/>
                </a:solidFill>
              </a:defRPr>
            </a:pPr>
            <a:r>
              <a:t>Education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Books, online courses, college tuition, stationary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114800"/>
            <a:ext cx="30175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425196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/>
            </a:pPr>
            <a:r>
              <a:t>🎬</a:t>
            </a:r>
          </a:p>
          <a:p>
            <a:pPr>
              <a:spcAft>
                <a:spcPts val="600"/>
              </a:spcAft>
              <a:defRPr sz="1600" b="1">
                <a:solidFill>
                  <a:srgbClr val="F43F5E"/>
                </a:solidFill>
              </a:defRPr>
            </a:pPr>
            <a:r>
              <a:t>Entertainment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Movies, streaming services, concerts, gaming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4114800"/>
            <a:ext cx="30175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425196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/>
            </a:pPr>
            <a:r>
              <a:t>💡</a:t>
            </a:r>
          </a:p>
          <a:p>
            <a:pPr>
              <a:spcAft>
                <a:spcPts val="600"/>
              </a:spcAft>
              <a:defRPr sz="1600" b="1">
                <a:solidFill>
                  <a:srgbClr val="0EA5E9"/>
                </a:solidFill>
              </a:defRPr>
            </a:pPr>
            <a:r>
              <a:t>Bills &amp; Utilities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Electricity, internet, water bills, recharge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4114800"/>
            <a:ext cx="30175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25196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/>
            </a:pPr>
            <a:r>
              <a:t>📦</a:t>
            </a:r>
          </a:p>
          <a:p>
            <a:pPr>
              <a:spcAft>
                <a:spcPts val="600"/>
              </a:spcAft>
              <a:defRPr sz="1600" b="1">
                <a:solidFill>
                  <a:srgbClr val="94A3B8"/>
                </a:solidFill>
              </a:defRPr>
            </a:pPr>
            <a:r>
              <a:t>Others / Misc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Unspecified or general daily miscellaneous items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6B6D4"/>
                </a:solidFill>
              </a:defRPr>
            </a:pPr>
            <a:r>
              <a:t>SMARTEXPENSE AI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System Architecture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1417320" cy="2743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2560320"/>
            <a:ext cx="127101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000" b="1">
                <a:solidFill>
                  <a:srgbClr val="10B981"/>
                </a:solidFill>
              </a:defRPr>
            </a:pPr>
            <a:r>
              <a:t>Layer 1</a:t>
            </a:r>
          </a:p>
          <a:p>
            <a:pPr algn="ctr">
              <a:spcAft>
                <a:spcPts val="800"/>
              </a:spcAft>
              <a:defRPr sz="2600"/>
            </a:pPr>
            <a:r>
              <a:t>👤</a:t>
            </a:r>
          </a:p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User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Client Interaction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76856" y="2377440"/>
            <a:ext cx="1417320" cy="2743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50008" y="2560320"/>
            <a:ext cx="127101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000" b="1">
                <a:solidFill>
                  <a:srgbClr val="10B981"/>
                </a:solidFill>
              </a:defRPr>
            </a:pPr>
            <a:r>
              <a:t>Layer 2</a:t>
            </a:r>
          </a:p>
          <a:p>
            <a:pPr algn="ctr">
              <a:spcAft>
                <a:spcPts val="800"/>
              </a:spcAft>
              <a:defRPr sz="2600"/>
            </a:pPr>
            <a:r>
              <a:t>💬</a:t>
            </a:r>
          </a:p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Expense Input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Raw Description 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22191" y="2377440"/>
            <a:ext cx="1417320" cy="2743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95343" y="2560320"/>
            <a:ext cx="127101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000" b="1">
                <a:solidFill>
                  <a:srgbClr val="10B981"/>
                </a:solidFill>
              </a:defRPr>
            </a:pPr>
            <a:r>
              <a:t>Layer 3</a:t>
            </a:r>
          </a:p>
          <a:p>
            <a:pPr algn="ctr">
              <a:spcAft>
                <a:spcPts val="800"/>
              </a:spcAft>
              <a:defRPr sz="2600"/>
            </a:pPr>
            <a:r>
              <a:t>⚙️</a:t>
            </a:r>
          </a:p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Preprocessing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Tokenize &amp; Clean 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67528" y="2377440"/>
            <a:ext cx="1417320" cy="2743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0" y="2560320"/>
            <a:ext cx="127101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000" b="1">
                <a:solidFill>
                  <a:srgbClr val="10B981"/>
                </a:solidFill>
              </a:defRPr>
            </a:pPr>
            <a:r>
              <a:t>Layer 4</a:t>
            </a:r>
          </a:p>
          <a:p>
            <a:pPr algn="ctr">
              <a:spcAft>
                <a:spcPts val="800"/>
              </a:spcAft>
              <a:defRPr sz="2600"/>
            </a:pPr>
            <a:r>
              <a:t>🔍</a:t>
            </a:r>
          </a:p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Feature Extraction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Vector Feature Matrix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12864" y="2377440"/>
            <a:ext cx="1417320" cy="2743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86016" y="2560320"/>
            <a:ext cx="127101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000" b="1">
                <a:solidFill>
                  <a:srgbClr val="10B981"/>
                </a:solidFill>
              </a:defRPr>
            </a:pPr>
            <a:r>
              <a:t>Layer 5</a:t>
            </a:r>
          </a:p>
          <a:p>
            <a:pPr algn="ctr">
              <a:spcAft>
                <a:spcPts val="800"/>
              </a:spcAft>
              <a:defRPr sz="2600"/>
            </a:pPr>
            <a:r>
              <a:t>🤖</a:t>
            </a:r>
          </a:p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Tiny AI Model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Classifier Inference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2377440"/>
            <a:ext cx="1417320" cy="2743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31352" y="2560320"/>
            <a:ext cx="127101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000" b="1">
                <a:solidFill>
                  <a:srgbClr val="10B981"/>
                </a:solidFill>
              </a:defRPr>
            </a:pPr>
            <a:r>
              <a:t>Layer 6</a:t>
            </a:r>
          </a:p>
          <a:p>
            <a:pPr algn="ctr">
              <a:spcAft>
                <a:spcPts val="800"/>
              </a:spcAft>
              <a:defRPr sz="2600"/>
            </a:pPr>
            <a:r>
              <a:t>🏷️</a:t>
            </a:r>
          </a:p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Category Prediction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Assigned Label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03536" y="2377440"/>
            <a:ext cx="1417320" cy="2743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76688" y="2560320"/>
            <a:ext cx="127101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000" b="1">
                <a:solidFill>
                  <a:srgbClr val="10B981"/>
                </a:solidFill>
              </a:defRPr>
            </a:pPr>
            <a:r>
              <a:t>Layer 7</a:t>
            </a:r>
          </a:p>
          <a:p>
            <a:pPr algn="ctr">
              <a:spcAft>
                <a:spcPts val="800"/>
              </a:spcAft>
              <a:defRPr sz="2600"/>
            </a:pPr>
            <a:r>
              <a:t>📊</a:t>
            </a:r>
          </a:p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Expense Dashboard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UI Analytics Display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486400"/>
            <a:ext cx="10728655" cy="822960"/>
          </a:xfrm>
          <a:prstGeom prst="roundRect">
            <a:avLst/>
          </a:prstGeom>
          <a:solidFill>
            <a:srgbClr val="0F1E2D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57784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Modular Architecture: Simple pipeline allowing real-time text processing from User Input to Dashboard visual rendering.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6B6D4"/>
                </a:solidFill>
              </a:defRPr>
            </a:pPr>
            <a:r>
              <a:t>SMARTEXPENSE AI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Proposed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/>
            </a:pPr>
            <a:r>
              <a:t>🖥️</a:t>
            </a:r>
          </a:p>
          <a:p>
            <a:pPr>
              <a:spcAft>
                <a:spcPts val="600"/>
              </a:spcAft>
              <a:defRPr sz="1800" b="1">
                <a:solidFill>
                  <a:srgbClr val="06B6D4"/>
                </a:solidFill>
              </a:defRPr>
            </a:pPr>
            <a:r>
              <a:t>Frontend</a:t>
            </a:r>
          </a:p>
          <a:p>
            <a:pPr>
              <a:spcAft>
                <a:spcPts val="1000"/>
              </a:spcAft>
              <a:defRPr sz="1400" b="1">
                <a:solidFill>
                  <a:srgbClr val="F8FAFC"/>
                </a:solidFill>
              </a:defRPr>
            </a:pPr>
            <a:r>
              <a:t>HTML5, CSS3, JavaScript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Provides a modern, responsive user interface for entering expenses and displaying live category results.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38144" y="1645920"/>
            <a:ext cx="256032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21024" y="182880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/>
            </a:pPr>
            <a:r>
              <a:t>🐍</a:t>
            </a:r>
          </a:p>
          <a:p>
            <a:pPr>
              <a:spcAft>
                <a:spcPts val="600"/>
              </a:spcAft>
              <a:defRPr sz="1800" b="1">
                <a:solidFill>
                  <a:srgbClr val="10B981"/>
                </a:solidFill>
              </a:defRPr>
            </a:pPr>
            <a:r>
              <a:t>Backend</a:t>
            </a:r>
          </a:p>
          <a:p>
            <a:pPr>
              <a:spcAft>
                <a:spcPts val="1000"/>
              </a:spcAft>
              <a:defRPr sz="1400" b="1">
                <a:solidFill>
                  <a:srgbClr val="F8FAFC"/>
                </a:solidFill>
              </a:defRPr>
            </a:pPr>
            <a:r>
              <a:t>Python / Flask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Lightweight REST API framework to handle client requests and feed data to the AI model.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4768" y="1645920"/>
            <a:ext cx="256032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7648" y="182880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/>
            </a:pPr>
            <a:r>
              <a:t>🤖</a:t>
            </a:r>
          </a:p>
          <a:p>
            <a:pPr>
              <a:spcAft>
                <a:spcPts val="600"/>
              </a:spcAft>
              <a:defRPr sz="1800" b="1">
                <a:solidFill>
                  <a:srgbClr val="A855F7"/>
                </a:solidFill>
              </a:defRPr>
            </a:pPr>
            <a:r>
              <a:t>AI / ML Model</a:t>
            </a:r>
          </a:p>
          <a:p>
            <a:pPr>
              <a:spcAft>
                <a:spcPts val="1000"/>
              </a:spcAft>
              <a:defRPr sz="1400" b="1">
                <a:solidFill>
                  <a:srgbClr val="F8FAFC"/>
                </a:solidFill>
              </a:defRPr>
            </a:pPr>
            <a:r>
              <a:t>Lightweight ML Classifier (Python)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Compact Scikit-Learn based classification model optimized for low memory usage.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51392" y="1645920"/>
            <a:ext cx="256032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34272" y="182880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/>
            </a:pPr>
            <a:r>
              <a:t>🗄️</a:t>
            </a:r>
          </a:p>
          <a:p>
            <a:pPr>
              <a:spcAft>
                <a:spcPts val="600"/>
              </a:spcAft>
              <a:defRPr sz="1800" b="1">
                <a:solidFill>
                  <a:srgbClr val="F59E0B"/>
                </a:solidFill>
              </a:defRPr>
            </a:pPr>
            <a:r>
              <a:t>Data Storage</a:t>
            </a:r>
          </a:p>
          <a:p>
            <a:pPr>
              <a:spcAft>
                <a:spcPts val="1000"/>
              </a:spcAft>
              <a:defRPr sz="1400" b="1">
                <a:solidFill>
                  <a:srgbClr val="F8FAFC"/>
                </a:solidFill>
              </a:defRPr>
            </a:pPr>
            <a:r>
              <a:t>CSV / SQLite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Simple structured storage solution for persisting categorized expense records and user history.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760720"/>
            <a:ext cx="10728655" cy="640080"/>
          </a:xfrm>
          <a:prstGeom prst="roundRect">
            <a:avLst/>
          </a:prstGeom>
          <a:solidFill>
            <a:srgbClr val="2D1414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8064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ECACA"/>
                </a:solidFill>
              </a:defRPr>
            </a:pPr>
            <a:r>
              <a:t>📌 Note: These are proposed technologies for the prototype concept presentation.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6B6D4"/>
                </a:solidFill>
              </a:defRPr>
            </a:pPr>
            <a:r>
              <a:t>SMARTEXPENSE AI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Sample Input &amp; Output Mapping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5699455"/>
                <a:gridCol w="3657600"/>
              </a:tblGrid>
              <a:tr h="6553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6B6D4"/>
                          </a:solidFill>
                        </a:defRPr>
                      </a:pPr>
                      <a:r>
                        <a:t>Sample #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6B6D4"/>
                          </a:solidFill>
                        </a:defRPr>
                      </a:pPr>
                      <a:r>
                        <a:t>Input Expense Description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6B6D4"/>
                          </a:solidFill>
                        </a:defRPr>
                      </a:pPr>
                      <a:r>
                        <a:t>AI Predicted Category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8FAFC"/>
                          </a:solidFill>
                        </a:defRPr>
                      </a:pPr>
                      <a:r>
                        <a:t>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8FAFC"/>
                          </a:solidFill>
                        </a:defRPr>
                      </a:pPr>
                      <a:r>
                        <a:t>"₹250 – Pizza"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6B6D4"/>
                          </a:solidFill>
                        </a:defRPr>
                      </a:pPr>
                      <a:r>
                        <a:t>🍔  Food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8FAFC"/>
                          </a:solidFill>
                        </a:defRPr>
                      </a:pPr>
                      <a:r>
                        <a:t>02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8FAFC"/>
                          </a:solidFill>
                        </a:defRPr>
                      </a:pPr>
                      <a:r>
                        <a:t>"₹500 – Uber Ride"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6B6D4"/>
                          </a:solidFill>
                        </a:defRPr>
                      </a:pPr>
                      <a:r>
                        <a:t>🚗  Travel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8FAFC"/>
                          </a:solidFill>
                        </a:defRPr>
                      </a:pPr>
                      <a:r>
                        <a:t>03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8FAFC"/>
                          </a:solidFill>
                        </a:defRPr>
                      </a:pPr>
                      <a:r>
                        <a:t>"₹1,200 – T-Shirt"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6B6D4"/>
                          </a:solidFill>
                        </a:defRPr>
                      </a:pPr>
                      <a:r>
                        <a:t>🛍️  Shopping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8FAFC"/>
                          </a:solidFill>
                        </a:defRPr>
                      </a:pPr>
                      <a:r>
                        <a:t>04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8FAFC"/>
                          </a:solidFill>
                        </a:defRPr>
                      </a:pPr>
                      <a:r>
                        <a:t>"₹900 – Movie Ticket"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6B6D4"/>
                          </a:solidFill>
                        </a:defRPr>
                      </a:pPr>
                      <a:r>
                        <a:t>🎬  Entertainment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8FAFC"/>
                          </a:solidFill>
                        </a:defRPr>
                      </a:pPr>
                      <a:r>
                        <a:t>05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8FAFC"/>
                          </a:solidFill>
                        </a:defRPr>
                      </a:pPr>
                      <a:r>
                        <a:t>"₹2,000 – Course Fee"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6B6D4"/>
                          </a:solidFill>
                        </a:defRPr>
                      </a:pPr>
                      <a:r>
                        <a:t>📚  Education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760720"/>
            <a:ext cx="10728655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8064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Explanation: The AI classification model analyzes the text context and keywords to infer the accurate expense category.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6B6D4"/>
                </a:solidFill>
              </a:defRPr>
            </a:pPr>
            <a:r>
              <a:t>SMARTEXPENSE AI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Advantages &amp; Potential Applications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0B981"/>
                </a:solidFill>
              </a:defRPr>
            </a:pPr>
            <a:r>
              <a:t>Key System Advantages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✔ Saves Time: Eliminates tedious manual category selection.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✔ Reduces Manual Categorization: Automated text parsing handles classification.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✔ Simple &amp; Intuitive to Use: Zero learning curve for end users.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✔ Lightweight AI Approach: Efficient execution suited for Tiny AI concepts.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✔ Easy Integration: Seamlessly embeddable into existing expense apps.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6B6D4"/>
                </a:solidFill>
              </a:defRPr>
            </a:pPr>
            <a:r>
              <a:t>Practical Applications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🚀 Personal Finance Apps: Enhance daily logging experience.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🚀 Student Expense Tracking: Simple budgeting tool for college students.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🚀 Small Business Expense Mgmt: Fast categorization for micro receipts.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🚀 Budgeting Applications: Auto-group monthly spend into buckets.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🚀 Mobile Finance Assistants: On-device lightweight smart assistant.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6B6D4"/>
                </a:solidFill>
              </a:defRPr>
            </a:pPr>
            <a:r>
              <a:t>SMARTEXPENSE AI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Future Scope &amp;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A855F7"/>
                </a:solidFill>
              </a:defRPr>
            </a:pPr>
            <a:r>
              <a:t>Future Scope &amp; Enhancements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🔮 Automatic monthly spending analysis &amp; visualization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🔮 Smart AI budget recommendations &amp; alerts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🔮 Anomalous spending trend detection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🔮 Voice-based expense entry integration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🔮 Dedicated mobile application build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🔮 Personalized financial health insights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1">
                <a:solidFill>
                  <a:srgbClr val="10B981"/>
                </a:solidFill>
              </a:defRPr>
            </a:pPr>
            <a:r>
              <a:t>Conclusion</a:t>
            </a:r>
          </a:p>
          <a:p>
            <a:pPr>
              <a:spcAft>
                <a:spcPts val="1600"/>
              </a:spcAft>
              <a:defRPr sz="1800" b="1">
                <a:solidFill>
                  <a:srgbClr val="F8FAFC"/>
                </a:solidFill>
              </a:defRPr>
            </a:pPr>
            <a:r>
              <a:t>“SmartExpense AI demonstrates how a lightweight AI model can automate expense classification and make financial tracking simpler and more organized.”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This proposed prototype highlights the power of Tiny AI in streamlining everyday utility tasks without demanding high computing power.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828800"/>
            <a:ext cx="889985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4800" b="1">
                <a:solidFill>
                  <a:srgbClr val="06B6D4"/>
                </a:solidFill>
              </a:defRPr>
            </a:pPr>
            <a:r>
              <a:t>THANK YOU</a:t>
            </a:r>
          </a:p>
          <a:p>
            <a:pPr algn="ctr">
              <a:spcAft>
                <a:spcPts val="2400"/>
              </a:spcAft>
              <a:defRPr sz="2400">
                <a:solidFill>
                  <a:srgbClr val="10B981"/>
                </a:solidFill>
              </a:defRPr>
            </a:pPr>
            <a:r>
              <a:t>Questions &amp; Discussion</a:t>
            </a:r>
          </a:p>
          <a:p>
            <a:pPr algn="ctr">
              <a:defRPr sz="1600">
                <a:solidFill>
                  <a:srgbClr val="94A3B8"/>
                </a:solidFill>
              </a:defRPr>
            </a:pPr>
            <a:r>
              <a:t>SmartExpense AI – Tiny AI Project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